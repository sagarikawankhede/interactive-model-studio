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68680"/>
            <a:ext cx="347472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ACADEMIC SOFTWARE ENGINEERING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Interactive ML Model Studio</a:t>
            </a:r>
            <a:br/>
            <a:r>
              <a:t>&amp; Visual Experiment Tracker</a:t>
            </a:r>
          </a:p>
          <a:p>
            <a:pPr>
              <a:spcBef>
                <a:spcPts val="800"/>
              </a:spcBef>
              <a:defRPr sz="1500">
                <a:solidFill>
                  <a:srgbClr val="2563EB"/>
                </a:solidFill>
              </a:defRPr>
            </a:pPr>
            <a:r>
              <a:t>Empowering Developers &amp; Data Scientists with Visual Clarity, Proactive Diagnostics, and Full Code Transparency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03320"/>
            <a:ext cx="33375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The Human Pain Point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"Where did that 93% accuracy model go?"</a:t>
            </a:r>
            <a:br/>
            <a:br/>
            <a:r>
              <a:t>Data scientists spend hours writing repetitive code in messy notebooks. After 30 runs, hyperparameters, imputer states, and seeds are lost or overwritten.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3703320"/>
            <a:ext cx="33375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The Studio Experience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"Clarity, confidence &amp; safety."</a:t>
            </a:r>
            <a:br/>
            <a:br/>
            <a:r>
              <a:t>A unified web studio where users construct pipelines visually, receive pre-training data warnings, and see experiments tracked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3703320"/>
            <a:ext cx="33375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0184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The Philosophy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</a:defRPr>
            </a:pPr>
            <a:r>
              <a:t>"Visual convenience, zero black-box."</a:t>
            </a:r>
            <a:br/>
            <a:br/>
            <a:r>
              <a:t>Every visual block generates inspectable, production-ready Python code in Monaco Editor. You stay in control of your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GitHub: SagarikaWankhede/Interactive-Model-Studio  •  Tech Stack: React • React Flow • Monaco • FastAPI • Scikit-Learn •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USER EXPERIENCE &amp; CORE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What Makes Our Project Different?</a:t>
            </a:r>
          </a:p>
          <a:p>
            <a:pPr>
              <a:spcBef>
                <a:spcPts val="300"/>
              </a:spcBef>
              <a:defRPr sz="1250">
                <a:solidFill>
                  <a:srgbClr val="64748B"/>
                </a:solidFill>
              </a:defRPr>
            </a:pPr>
            <a:r>
              <a:t>Designed to solve the real cognitive overload and blind spots of existing ML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464515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1. Visual Workflow + Real Code (No Black-Box Trap)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Drag-and-drop nodes in React Flow make pipeline assembly intuitive for everyone.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Generates clean, idiomatic scikit-learn Python in real time.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Live Monaco Editor gives full code transparency: inspect, edit, and export .py files.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Avoids the trap of 'toy' no-code platforms: you own and can export real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9379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59" y="1847088"/>
            <a:ext cx="464515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2. Automated Guardrails (Pre-Training Diagnostics)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Most platforms let you train blindly on bad data, leading to wasted hours.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Rule-based checks detect missing values, severe class imbalance, and outliers beforehand.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Warns against high-cardinality columns (e.g. User_ID) and obvious data leakage.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Helps students &amp; practitioners avoid common machine learning pitfalls before fitting.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9379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15968"/>
            <a:ext cx="464515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Mental Peace (Automated Experiment Tracking)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No more manual Excel logs or lost notebook cells.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Captures full snapshot: Dataset Version + Preprocessing Recipe + Hyperparameters + Seed.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Clear architectural split: ModelConfig (user choices) vs. ModelArtifact (physical files).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Side-by-side comparison table to easily pick the best-performing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114800"/>
            <a:ext cx="519379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4315968"/>
            <a:ext cx="464515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4. Frictionless Edge Deployment (ONNX Browser Inference)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Eliminates the need to set up and pay for expensive cloud prediction servers.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Converts trained scikit-learn models to ONNX via sklearn-onnx.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Runs inference directly inside the user's browser using WebAssembly / ONNX Runtime Web.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• Instant, private, zero-latency predictions for end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SYSTEM ENGINEERING &amp; DECOUPLED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Multi-Tier Studio Architecture</a:t>
            </a:r>
          </a:p>
          <a:p>
            <a:pPr>
              <a:spcBef>
                <a:spcPts val="300"/>
              </a:spcBef>
              <a:defRPr sz="1250">
                <a:solidFill>
                  <a:srgbClr val="64748B"/>
                </a:solidFill>
              </a:defRPr>
            </a:pPr>
            <a:r>
              <a:t>A clean separation of concerns ensuring scalability, responsiveness, and clean code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1. Human Interface Tier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React.js • React Flow • Monaco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Interactive Studio UI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Fluid single-page interface for datasets and runs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React Flow Canvas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Visual drag-and-drop node graph pipeline builder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Monaco Code Editor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VS Code-grade Python code viewer and exporter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Visual Analytics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Interactive charts for metrics, ROC &amp; confusion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64592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8456" y="182880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C3AED"/>
                </a:solidFill>
              </a:defRPr>
            </a:pPr>
            <a:r>
              <a:t>2. Backend API Tier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FastAPI • Python REST Service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FastAPI Gateway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High-speed async endpoints for all studio operations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Pipeline Parser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Translates React Flow node DAG to execution flow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Code Generator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Synthesizes clean, production-grade Python scripts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Validation Engine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Validates dataset schemas, types &amp; hyperparameters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4592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82880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t>3. ML Engine Tier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pandas • Scikit-Learn • XGBoost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Pre-Training Profiler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Rule-based diagnostics &amp; hygiene warning engine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Data Transformer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Imputation, One-Hot Encoding, Scaling, Selection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Model Trainer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Train/test split, model fitting, and tuning algorithms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Evaluator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Comprehensive classification &amp; regression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64592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828800"/>
            <a:ext cx="2148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D97706"/>
                </a:solidFill>
              </a:defRPr>
            </a:pPr>
            <a:r>
              <a:t>4. Dual Storage Tier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PostgreSQL + Artifact Store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PostgreSQL DB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Users, Projects, Datasets, Preprocessing Recipes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Metadata Registry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ModelConfig, Run Metrics, Execution Times, Status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Model Artifacts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Serialized binary models (.pkl, .joblib, .onnx)</a:t>
            </a:r>
          </a:p>
          <a:p>
            <a:pPr>
              <a:spcBef>
                <a:spcPts val="800"/>
              </a:spcBef>
              <a:defRPr sz="1050" b="1">
                <a:solidFill>
                  <a:srgbClr val="1E293B"/>
                </a:solidFill>
              </a:defRPr>
            </a:pPr>
            <a:r>
              <a:t>▸ Code Artifacts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Exportable reproducible Python scripts (.py)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INNOVATION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Automated Diagnostics &amp; Transparent Code Generation</a:t>
            </a:r>
          </a:p>
          <a:p>
            <a:pPr>
              <a:spcBef>
                <a:spcPts val="300"/>
              </a:spcBef>
              <a:defRPr sz="1250">
                <a:solidFill>
                  <a:srgbClr val="64748B"/>
                </a:solidFill>
              </a:defRPr>
            </a:pPr>
            <a:r>
              <a:t>Protecting users from bad data before training, and turning visual flows into real Python scripts.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365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D97706"/>
                </a:solidFill>
              </a:defRPr>
            </a:pPr>
            <a:r>
              <a:t>Pre-Training Data Quality Guardrails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Proactive rule-based checks protecting users from common ML mistakes: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⚠ Missing Values Alert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Flags column missingness (e.g., Age 14% missing) and offers median/mean imputation before fitting.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⚠ Class Imbalance Warning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Detects skewed targets (e.g., 92% vs 8%) to warn that 92% accuracy might just be a dummy predictor.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⚠ High-Cardinality Categoricals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Flags ID-like columns (e.g., User_ID with 50,000 unique values) that would crash one-hot encoding.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⚠ Data Leakage Detection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Spots features suspiciously tied to target (e.g. Loan_Default_Date) that wouldn't exist at prediction time.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⚠ Statistical Outliers Check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Uses IQR and Z-score statistical tests to highlight severe anomalies in numerical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937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365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2563EB"/>
                </a:solidFill>
              </a:defRPr>
            </a:pPr>
            <a:r>
              <a:t>Visual Pipeline to Python Code Engine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</a:defRPr>
            </a:pPr>
            <a:r>
              <a:t>Bridging visual simplicity with complete programming freedom: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⚙ 1. React Flow Graph Canvas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Users intuitively connect nodes: CSV Dataset ➔ Imputer ➔ Scaler ➔ Model ➔ Evaluation.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⚙ 2. Graph JSON Serialization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React Flow records the topological order, edge dependencies, and node configurations.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⚙ 3. Backend Pipeline Parser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FastAPI validates the DAG structure, catches circular dependencies, and sorts steps.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⚙ 4. Python Code Generator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Synthesizes standard, readable scikit-learn code with proper imports, fit(), and transform().</a:t>
            </a:r>
          </a:p>
          <a:p>
            <a:pPr>
              <a:spcBef>
                <a:spcPts val="600"/>
              </a:spcBef>
              <a:defRPr sz="1050" b="1">
                <a:solidFill>
                  <a:srgbClr val="1E293B"/>
                </a:solidFill>
              </a:defRPr>
            </a:pPr>
            <a:r>
              <a:t>⚙ 5. Monaco Editor &amp; Export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Renders in an interactive VS-Code editor in the browser. Exportable as a standalone .py script.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EXPERIMENTATION &amp; MODEL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Automated Experiment Tracking &amp; Reproducibility</a:t>
            </a:r>
          </a:p>
          <a:p>
            <a:pPr>
              <a:spcBef>
                <a:spcPts val="300"/>
              </a:spcBef>
              <a:defRPr sz="1250">
                <a:solidFill>
                  <a:srgbClr val="64748B"/>
                </a:solidFill>
              </a:defRPr>
            </a:pPr>
            <a:r>
              <a:t>Giving developers complete confidence in their results through structured tracking and comparisons.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26871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0B981"/>
                </a:solidFill>
              </a:defRPr>
            </a:pPr>
            <a:r>
              <a:t>The Formula for True Machine Learning Reproducibility</a:t>
            </a:r>
          </a:p>
          <a:p>
            <a:pPr>
              <a:spcBef>
                <a:spcPts val="300"/>
              </a:spcBef>
              <a:defRPr sz="1150" b="1">
                <a:solidFill>
                  <a:srgbClr val="2563EB"/>
                </a:solidFill>
              </a:defRPr>
            </a:pPr>
            <a:r>
              <a:t>Reproducible Run = [Dataset Version] + [Preprocessing Recipe] + [ModelConfig] + [Random Seed]</a:t>
            </a:r>
          </a:p>
          <a:p>
            <a:pPr>
              <a:spcBef>
                <a:spcPts val="500"/>
              </a:spcBef>
              <a:defRPr sz="950">
                <a:solidFill>
                  <a:srgbClr val="64748B"/>
                </a:solidFill>
              </a:defRPr>
            </a:pPr>
            <a:r>
              <a:t>• ModelConfig (Intent) separated from ModelArtifact (Weights)  |  • Training duration captured  |  • Full classification &amp; regression metrics logged  |  • Model files (.pkl/.joblib) linked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7607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52044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Multi-Experiment Comparison &amp; Trade-Offs</a:t>
            </a:r>
          </a:p>
          <a:p>
            <a:pPr>
              <a:spcBef>
                <a:spcPts val="500"/>
              </a:spcBef>
              <a:defRPr sz="950" b="1">
                <a:solidFill>
                  <a:srgbClr val="1E293B"/>
                </a:solidFill>
              </a:defRPr>
            </a:pPr>
            <a:r>
              <a:t>Exp ID   | Model Algorithm    | Accuracy | F1-Score | Time   | Insight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EXP-01   | Logistic Regression | 86.2%    | 84.8%    | 0.7s   | Fast baseline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EXP-02   | Random Forest (d=15) | 91.2%    | 89.7%    | 2.4s   | Balanced performer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EXP-03   | XGBoost (lr=0.1)   | 93.4%    | 92.1%    | 3.8s   | Top accuracy</a:t>
            </a:r>
          </a:p>
          <a:p>
            <a:pPr>
              <a:spcBef>
                <a:spcPts val="700"/>
              </a:spcBef>
              <a:defRPr sz="950" b="1">
                <a:solidFill>
                  <a:srgbClr val="D97706"/>
                </a:solidFill>
              </a:defRPr>
            </a:pPr>
            <a:r>
              <a:t>▸ Real-World Insight: Is a +1.2% F1 boost worth 5x longer training time? The studio visualizes this trade-off clearly.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3383280"/>
            <a:ext cx="473659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3520440"/>
            <a:ext cx="43708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C3AED"/>
                </a:solidFill>
              </a:defRPr>
            </a:pPr>
            <a:r>
              <a:t>Model Lifecycle &amp; Version Control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</a:defRPr>
            </a:pPr>
            <a:r>
              <a:t>• Predictable Finite State Machine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Every run follows Created ➔ Queued ➔ Running ➔ Completed/Failed. Exceptions are caught gracefully without crashing the UI.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</a:defRPr>
            </a:pPr>
            <a:r>
              <a:t>• Model Versioning Registry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Tracks Model v1 (Baseline) ➔ Model v2 (Tuned) ➔ Model v3 (Champion). Users can revert or restore earlier versions anytime.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</a:defRPr>
            </a:pPr>
            <a:r>
              <a:t>• Dual Artifact Storage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</a:defRPr>
            </a:pPr>
            <a:r>
              <a:t>Relational experiment records stay in PostgreSQL while heavy binary models (.pkl/.onnx) are stored on the file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ENGINEERING EXECUTION &amp;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Project Scope, Current Status &amp; Future Roadmap</a:t>
            </a:r>
          </a:p>
          <a:p>
            <a:pPr>
              <a:spcBef>
                <a:spcPts val="300"/>
              </a:spcBef>
              <a:defRPr sz="1250">
                <a:solidFill>
                  <a:srgbClr val="64748B"/>
                </a:solidFill>
              </a:defRPr>
            </a:pPr>
            <a:r>
              <a:t>Distinguishing solid, working MVP features from future enterprise enhancements.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93792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7365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Core MVP Deliverables (Current Scope)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✓ Dataset Management: CSV file upload, schema detection, summary stats &amp; versioning.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✓ Rule-Based Diagnostics: Warnings for missing data, class imbalance, cardinality &amp; outliers.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✓ Visual Pipeline Canvas: React Flow node-graph editor with preprocessing &amp; model nodes.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✓ Code Generator &amp; Monaco: Real-time generation of clean, transparent scikit-learn Python scripts.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✓ Experiment Tracking: PostgreSQL metadata store, metric recording &amp; artifact persistence.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✓ Experiment Comparison: Multi-model comparison table, metrics visualization &amp; version rollback.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✓ Initial ONNX Export: Export supported linear/tree models for client-side browser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93792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3659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Future Scalability Roadmap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→ Asynchronous Job Queue: Celery / RQ + Redis workers for non-blocking large dataset training.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→ Cloud Object Storage: Migrate from local storage to AWS S3 / Google Cloud Storage buckets.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→ GPU Accelerated Training: Hardware-accelerated gradient boosting and larger tabular datasets.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→ Deep Learning Support: Visual PyTorch / TensorFlow nodes for deep neural networks.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→ 1-Click REST API Deployment: Deploy best-performing model to a live prediction microservice.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</a:defRPr>
            </a:pPr>
            <a:r>
              <a:t>→ Advanced Visualizations: SHAP / LIME explainability plots and live training loss curves.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5912" cy="868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779008"/>
            <a:ext cx="102687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Examiner Pitch (In One Human-Centric Sentence):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"A visual ML experimentation workspace that combines no-code pipeline construction, transparent Python code generation, automated pre-training data diagnostics, and reproducible experiment tracking in one unified platform."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